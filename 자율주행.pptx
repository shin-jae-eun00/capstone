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autoCompressPictures="0">
  <p:sldMasterIdLst>
    <p:sldMasterId id="2147483651" r:id="rId1"/>
  </p:sldMasterIdLst>
  <p:notesMasterIdLst>
    <p:notesMasterId r:id="rId2"/>
  </p:notesMasterIdLst>
  <p:sldIdLst>
    <p:sldId id="256" r:id="rId3"/>
    <p:sldId id="257" r:id="rId4"/>
    <p:sldId id="258"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presProps" Target="presProps.xml"  /><Relationship Id="rId8" Type="http://schemas.openxmlformats.org/officeDocument/2006/relationships/viewProps" Target="viewProps.xml"  /><Relationship Id="rId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4/8/2026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이 슬라이드는 자율주행 목표와 센서 역할을 설명합니다.</a:t>
            </a:r>
            <a:endParaRPr lang="en-US"/>
          </a:p>
          <a:p>
            <a:pPr lvl="0">
              <a:defRPr/>
            </a:pPr>
            <a:r>
              <a:rPr lang="en-US"/>
              <a:t>목표는 단순히 목적지까지 가는 것이 아니라, 팔레트 전방 1~2m 위치까지 안전하게 접근해서 이후 정밀객체인식을 시작할 수 있는 상태를 만드는 것입니다.</a:t>
            </a:r>
            <a:endParaRPr lang="en-US"/>
          </a:p>
          <a:p>
            <a:pPr lvl="0">
              <a:defRPr/>
            </a:pPr>
            <a:r>
              <a:rPr lang="en-US"/>
              <a:t>여기서 2D LiDAR는 실시간 장애물 감지와 안전 거리 확보를 담당하고, 카메라는 보조적인 경로 정보와 최종 객체 인식 단계에 활용됩니다. 즉, LiDAR가 안전 주행의 중심 센서이고 카메라는 후속 정밀 작업을 돕는 구조입니다.</a:t>
            </a:r>
            <a:endParaRPr lang="en-US"/>
          </a:p>
          <a:p>
            <a:pPr lvl="0">
              <a:defRPr/>
            </a:pPr>
            <a:endParaRPr lang="en-US"/>
          </a:p>
          <a:p>
            <a:pPr lvl="0">
              <a:defRPr/>
            </a:pPr>
            <a:r>
              <a:rPr lang="en-US"/>
              <a:t>[Sources]</a:t>
            </a:r>
            <a:endParaRPr lang="en-US"/>
          </a:p>
          <a:p>
            <a:pPr lvl="0">
              <a:defRPr/>
            </a:pPr>
            <a:r>
              <a:rPr lang="en-US"/>
              <a:t>- https://emanual.robotis.com/assets/images/platform/turtlebot3/hardware_setup/turtlebot3_burger_components.png</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시스템 흐름은 다섯 단계로 볼 수 있습니다.</a:t>
            </a:r>
            <a:endParaRPr lang="en-US"/>
          </a:p>
          <a:p>
            <a:pPr lvl="0">
              <a:defRPr/>
            </a:pPr>
            <a:r>
              <a:rPr lang="en-US"/>
              <a:t>먼저 실내 환경을 스캔해서 지도를 만들고, 이후 주행 시에는 LiDAR 데이터와 지도를 비교해 현재 위치를 추정합니다. 그 다음 Nav2가 출발지와 목적지를 기준으로 전역 및 지역 경로를 계획하고, 실제 주행 중에는 실시간 LiDAR 데이터를 반영해 장애물을 피합니다. 마지막으로 목표 지점에 정밀하게 도착한 뒤 정지하고, 그 이후 정밀객체인식 단계로 넘어갑니다.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핵심 알고리즘은 크게 AMCL과 Nav2입니다.</a:t>
            </a:r>
            <a:endParaRPr lang="en-US"/>
          </a:p>
          <a:p>
            <a:pPr lvl="0">
              <a:defRPr/>
            </a:pPr>
            <a:r>
              <a:rPr lang="en-US"/>
              <a:t>AMCL은 LiDAR 스캔과 기존 지도를 비교해서 현재 로봇 위치를 확률적으로 추정하는 방법입니다. 이 단계가 정확해야 최종 도착 오차를 줄일 수 있습니다.</a:t>
            </a:r>
            <a:endParaRPr lang="en-US"/>
          </a:p>
          <a:p>
            <a:pPr lvl="0">
              <a:defRPr/>
            </a:pPr>
            <a:r>
              <a:rPr lang="en-US"/>
              <a:t>그 위에서 Nav2가 전역 경로와 지역 경로를 계산하고, 주행 중 들어오는 LiDAR 데이터를 반영해 회피 주행을 수행합니다. 즉, AMCL이 현재 위치를 믿을 수 있게 만들어 주고, Nav2가 그 위치를 바탕으로 실제 이동을 수행한다고 이해하면 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이 슬라이드는 안전성과 예외 상황 대응입니다.</a:t>
            </a:r>
            <a:endParaRPr lang="en-US"/>
          </a:p>
          <a:p>
            <a:pPr lvl="0">
              <a:defRPr/>
            </a:pPr>
            <a:r>
              <a:rPr lang="en-US"/>
              <a:t>Recovery Behavior는 경로가 막히거나 로봇이 정상적으로 진행하지 못할 때 수행되는 복구 동작입니다. 예를 들어 제자리 회전이나 후진을 통해 다시 이동 가능한 상태를 만듭니다.</a:t>
            </a:r>
            <a:endParaRPr lang="en-US"/>
          </a:p>
          <a:p>
            <a:pPr lvl="0">
              <a:defRPr/>
            </a:pPr>
            <a:r>
              <a:rPr lang="en-US"/>
              <a:t>반면 Emergency Stop은 훨씬 즉각적인 안전 기능입니다. LiDAR 기준으로 장애물이 너무 가까워지면 주행을 멈추고 충돌을 방지합니다. 따라서 Recovery는 복구 중심, Emergency Stop은 안전 중심 기능이라고 구분할 수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Shape 1"/>
          <p:cNvSpPr/>
          <p:nvPr/>
        </p:nvSpPr>
        <p:spPr>
          <a:xfrm>
            <a:off x="411480" y="6382512"/>
            <a:ext cx="11338560" cy="9144"/>
          </a:xfrm>
          <a:prstGeom prst="rect">
            <a:avLst/>
          </a:prstGeom>
          <a:noFill/>
          <a:ln w="12700">
            <a:solidFill>
              <a:srgbClr val="D9E2F2"/>
            </a:solidFill>
            <a:prstDash val="solid"/>
          </a:ln>
        </p:spPr>
      </p:sp>
      <p:sp>
        <p:nvSpPr>
          <p:cNvPr id="4" name="Text 2"/>
          <p:cNvSpPr/>
          <p:nvPr/>
        </p:nvSpPr>
        <p:spPr>
          <a:xfrm>
            <a:off x="502920" y="6419088"/>
            <a:ext cx="384048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팀프로젝트 발표 | TurtleBot3 자율주행</a:t>
            </a:r>
            <a:endParaRPr lang="en-US" sz="900" dirty="0"/>
          </a:p>
        </p:txBody>
      </p:sp>
      <p:sp>
        <p:nvSpPr>
          <p:cNvPr id="25" name="Slide Number Placeholder 0"/>
          <p:cNvSpPr>
            <a:spLocks noGrp="1"/>
          </p:cNvSpPr>
          <p:nvPr>
            <p:ph type="sldNum" sz="quarter" idx="4294967295"/>
          </p:nvPr>
        </p:nvSpPr>
        <p:spPr>
          <a:xfrm>
            <a:off x="11247120" y="6382512"/>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411480"/>
            <a:ext cx="8046720" cy="411480"/>
          </a:xfrm>
          <a:prstGeom prst="rect">
            <a:avLst/>
          </a:prstGeom>
          <a:noFill/>
          <a:ln/>
        </p:spPr>
        <p:txBody>
          <a:bodyPr wrap="square" lIns="0" tIns="0" rIns="0" bIns="0" anchor="ctr"/>
          <a:lstStyle/>
          <a:p>
            <a:pPr marL="0" indent="0">
              <a:buNone/>
              <a:defRPr/>
            </a:pPr>
            <a:r>
              <a:rPr lang="en-US" sz="2800" b="1">
                <a:solidFill>
                  <a:srgbClr val="1f4e79"/>
                </a:solidFill>
                <a:latin typeface="Aptos"/>
                <a:ea typeface="Aptos"/>
                <a:cs typeface="Aptos"/>
              </a:rPr>
              <a:t>1. 자율주행의 목표와 센서 역할</a:t>
            </a:r>
            <a:endParaRPr lang="en-US" sz="2800"/>
          </a:p>
        </p:txBody>
      </p:sp>
      <p:sp>
        <p:nvSpPr>
          <p:cNvPr id="4" name="Text 2"/>
          <p:cNvSpPr/>
          <p:nvPr/>
        </p:nvSpPr>
        <p:spPr>
          <a:xfrm>
            <a:off x="621792" y="1261872"/>
            <a:ext cx="1417320" cy="256032"/>
          </a:xfrm>
          <a:prstGeom prst="rect">
            <a:avLst/>
          </a:prstGeom>
          <a:solidFill>
            <a:srgbClr val="eaf2fb"/>
          </a:solidFill>
          <a:ln>
            <a:solidFill>
              <a:srgbClr val="eaf2fb"/>
            </a:solidFill>
          </a:ln>
        </p:spPr>
        <p:txBody>
          <a:bodyPr wrap="square" lIns="254" tIns="254" rIns="254" bIns="254" anchor="ctr"/>
          <a:lstStyle/>
          <a:p>
            <a:pPr marL="0" indent="0" algn="ctr">
              <a:buNone/>
              <a:defRPr/>
            </a:pPr>
            <a:r>
              <a:rPr lang="en-US" sz="1100" b="1">
                <a:solidFill>
                  <a:srgbClr val="1f4e79"/>
                </a:solidFill>
              </a:rPr>
              <a:t>주행 목표</a:t>
            </a:r>
            <a:endParaRPr lang="en-US" sz="1100"/>
          </a:p>
        </p:txBody>
      </p:sp>
      <p:sp>
        <p:nvSpPr>
          <p:cNvPr id="6" name="Text 4"/>
          <p:cNvSpPr/>
          <p:nvPr/>
        </p:nvSpPr>
        <p:spPr>
          <a:xfrm>
            <a:off x="841248" y="1874520"/>
            <a:ext cx="5029200" cy="1325880"/>
          </a:xfrm>
          <a:prstGeom prst="rect">
            <a:avLst/>
          </a:prstGeom>
          <a:noFill/>
          <a:ln/>
        </p:spPr>
        <p:txBody>
          <a:bodyPr wrap="square" lIns="762" tIns="762" rIns="762" bIns="762" anchor="t"/>
          <a:lstStyle/>
          <a:p>
            <a:pPr marL="177800" indent="-177800">
              <a:buSzPct val="100000"/>
              <a:buChar char="•"/>
              <a:defRPr/>
            </a:pPr>
            <a:r>
              <a:rPr lang="en-US" sz="1800">
                <a:solidFill>
                  <a:srgbClr val="1f2937"/>
                </a:solidFill>
                <a:latin typeface="Aptos"/>
                <a:ea typeface="Aptos"/>
                <a:cs typeface="Aptos"/>
              </a:rPr>
              <a:t>2D LiDAR로 주변 장애물을 감지하며 안전하게 이동</a:t>
            </a:r>
            <a:endParaRPr lang="en-US" sz="1800">
              <a:solidFill>
                <a:srgbClr val="1f2937"/>
              </a:solidFill>
              <a:latin typeface="Aptos"/>
              <a:ea typeface="Aptos"/>
              <a:cs typeface="Aptos"/>
            </a:endParaRPr>
          </a:p>
          <a:p>
            <a:pPr marL="177800" indent="-177800">
              <a:buSzPct val="100000"/>
              <a:buChar char="•"/>
              <a:defRPr/>
            </a:pPr>
            <a:r>
              <a:rPr lang="en-US" sz="1800">
                <a:solidFill>
                  <a:srgbClr val="1f2937"/>
                </a:solidFill>
                <a:latin typeface="Aptos"/>
                <a:ea typeface="Aptos"/>
                <a:cs typeface="Aptos"/>
              </a:rPr>
              <a:t>팔레트 전방 1~2m 지점까지 도착하여 정밀객체인식을 시작할 수 있는 위치 확보</a:t>
            </a:r>
            <a:endParaRPr lang="en-US" sz="1800">
              <a:solidFill>
                <a:srgbClr val="1f2937"/>
              </a:solidFill>
              <a:latin typeface="Aptos"/>
              <a:ea typeface="Aptos"/>
              <a:cs typeface="Aptos"/>
            </a:endParaRPr>
          </a:p>
          <a:p>
            <a:pPr marL="177800" indent="-177800">
              <a:buSzPct val="100000"/>
              <a:buChar char="•"/>
              <a:defRPr/>
            </a:pPr>
            <a:r>
              <a:rPr lang="en-US" sz="1800">
                <a:solidFill>
                  <a:srgbClr val="1f2937"/>
                </a:solidFill>
                <a:latin typeface="Aptos"/>
                <a:ea typeface="Aptos"/>
                <a:cs typeface="Aptos"/>
              </a:rPr>
              <a:t>실내 주행 중 예상치 못한 장애물에도 정지 또는 우회 가능해야 함</a:t>
            </a:r>
            <a:endParaRPr lang="en-US" sz="1800"/>
          </a:p>
        </p:txBody>
      </p:sp>
      <p:sp>
        <p:nvSpPr>
          <p:cNvPr id="7" name="Text 5"/>
          <p:cNvSpPr/>
          <p:nvPr/>
        </p:nvSpPr>
        <p:spPr>
          <a:xfrm>
            <a:off x="6400800" y="1261872"/>
            <a:ext cx="1417320" cy="256032"/>
          </a:xfrm>
          <a:prstGeom prst="rect">
            <a:avLst/>
          </a:prstGeom>
          <a:solidFill>
            <a:srgbClr val="eaf2fb"/>
          </a:solidFill>
          <a:ln>
            <a:solidFill>
              <a:srgbClr val="eaf2fb"/>
            </a:solidFill>
          </a:ln>
        </p:spPr>
        <p:txBody>
          <a:bodyPr wrap="square" lIns="254" tIns="254" rIns="254" bIns="254" anchor="ctr"/>
          <a:lstStyle/>
          <a:p>
            <a:pPr marL="0" indent="0" algn="ctr">
              <a:buNone/>
              <a:defRPr/>
            </a:pPr>
            <a:r>
              <a:rPr lang="en-US" sz="1100" b="1">
                <a:solidFill>
                  <a:srgbClr val="1f4e79"/>
                </a:solidFill>
              </a:rPr>
              <a:t>센서 역할 분담</a:t>
            </a:r>
            <a:endParaRPr lang="en-US" sz="1100"/>
          </a:p>
        </p:txBody>
      </p:sp>
      <p:sp>
        <p:nvSpPr>
          <p:cNvPr id="10" name="Text 8"/>
          <p:cNvSpPr/>
          <p:nvPr/>
        </p:nvSpPr>
        <p:spPr>
          <a:xfrm>
            <a:off x="6468237" y="2084832"/>
            <a:ext cx="1097280" cy="228600"/>
          </a:xfrm>
          <a:prstGeom prst="rect">
            <a:avLst/>
          </a:prstGeom>
          <a:noFill/>
          <a:ln/>
        </p:spPr>
        <p:txBody>
          <a:bodyPr wrap="square" lIns="0" tIns="0" rIns="0" bIns="0" anchor="ctr"/>
          <a:lstStyle/>
          <a:p>
            <a:pPr marL="0" indent="0">
              <a:buNone/>
              <a:defRPr/>
            </a:pPr>
            <a:r>
              <a:rPr lang="en-US" sz="1800" b="1">
                <a:solidFill>
                  <a:srgbClr val="1f4e79"/>
                </a:solidFill>
              </a:rPr>
              <a:t>2D LiDAR</a:t>
            </a:r>
            <a:endParaRPr lang="en-US" sz="1800"/>
          </a:p>
        </p:txBody>
      </p:sp>
      <p:sp>
        <p:nvSpPr>
          <p:cNvPr id="11" name="Text 9"/>
          <p:cNvSpPr/>
          <p:nvPr/>
        </p:nvSpPr>
        <p:spPr>
          <a:xfrm>
            <a:off x="7784973" y="1993392"/>
            <a:ext cx="2761488" cy="457200"/>
          </a:xfrm>
          <a:prstGeom prst="rect">
            <a:avLst/>
          </a:prstGeom>
          <a:noFill/>
          <a:ln/>
        </p:spPr>
        <p:txBody>
          <a:bodyPr wrap="square" lIns="0" tIns="0" rIns="0" bIns="0" anchor="ctr"/>
          <a:lstStyle/>
          <a:p>
            <a:pPr marL="0" indent="0">
              <a:buNone/>
              <a:defRPr/>
            </a:pPr>
            <a:r>
              <a:rPr lang="en-US" sz="1500">
                <a:solidFill>
                  <a:srgbClr val="1f2937"/>
                </a:solidFill>
              </a:rPr>
              <a:t>실시간 주변 환경 스캔</a:t>
            </a:r>
            <a:endParaRPr lang="en-US" sz="1500">
              <a:solidFill>
                <a:srgbClr val="1f2937"/>
              </a:solidFill>
            </a:endParaRPr>
          </a:p>
          <a:p>
            <a:pPr marL="0" indent="0">
              <a:buNone/>
              <a:defRPr/>
            </a:pPr>
            <a:r>
              <a:rPr lang="en-US" sz="1500">
                <a:solidFill>
                  <a:srgbClr val="1f2937"/>
                </a:solidFill>
              </a:rPr>
              <a:t>장애물 감지 및 안전 거리 확보</a:t>
            </a:r>
            <a:endParaRPr lang="en-US" sz="1500"/>
          </a:p>
        </p:txBody>
      </p:sp>
      <p:sp>
        <p:nvSpPr>
          <p:cNvPr id="13" name="Text 11"/>
          <p:cNvSpPr/>
          <p:nvPr/>
        </p:nvSpPr>
        <p:spPr>
          <a:xfrm>
            <a:off x="6468237" y="3547872"/>
            <a:ext cx="1097280" cy="228600"/>
          </a:xfrm>
          <a:prstGeom prst="rect">
            <a:avLst/>
          </a:prstGeom>
          <a:noFill/>
          <a:ln/>
        </p:spPr>
        <p:txBody>
          <a:bodyPr wrap="square" lIns="0" tIns="0" rIns="0" bIns="0" anchor="ctr"/>
          <a:lstStyle/>
          <a:p>
            <a:pPr marL="0" indent="0">
              <a:buNone/>
              <a:defRPr/>
            </a:pPr>
            <a:r>
              <a:rPr lang="en-US" sz="1800" b="1">
                <a:solidFill>
                  <a:srgbClr val="1f4e79"/>
                </a:solidFill>
              </a:rPr>
              <a:t>카메라</a:t>
            </a:r>
            <a:endParaRPr lang="en-US" sz="1800"/>
          </a:p>
        </p:txBody>
      </p:sp>
      <p:sp>
        <p:nvSpPr>
          <p:cNvPr id="14" name="Text 12"/>
          <p:cNvSpPr/>
          <p:nvPr/>
        </p:nvSpPr>
        <p:spPr>
          <a:xfrm>
            <a:off x="7784973" y="3465576"/>
            <a:ext cx="2761488" cy="502920"/>
          </a:xfrm>
          <a:prstGeom prst="rect">
            <a:avLst/>
          </a:prstGeom>
          <a:noFill/>
          <a:ln/>
        </p:spPr>
        <p:txBody>
          <a:bodyPr wrap="square" lIns="0" tIns="0" rIns="0" bIns="0" anchor="ctr"/>
          <a:lstStyle/>
          <a:p>
            <a:pPr marL="0" indent="0">
              <a:buNone/>
              <a:defRPr/>
            </a:pPr>
            <a:r>
              <a:rPr lang="en-US" sz="1500">
                <a:solidFill>
                  <a:srgbClr val="1f2937"/>
                </a:solidFill>
              </a:rPr>
              <a:t>주행 경로 보조 정보 제공</a:t>
            </a:r>
            <a:endParaRPr lang="en-US" sz="1500">
              <a:solidFill>
                <a:srgbClr val="1f2937"/>
              </a:solidFill>
            </a:endParaRPr>
          </a:p>
          <a:p>
            <a:pPr marL="0" indent="0">
              <a:buNone/>
              <a:defRPr/>
            </a:pPr>
            <a:r>
              <a:rPr lang="en-US" sz="1500">
                <a:solidFill>
                  <a:srgbClr val="1f2937"/>
                </a:solidFill>
              </a:rPr>
              <a:t>최종 정밀객체인식 단계와 연계</a:t>
            </a:r>
            <a:endParaRPr lang="en-US" sz="15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411480"/>
            <a:ext cx="8046720" cy="411480"/>
          </a:xfrm>
          <a:prstGeom prst="rect">
            <a:avLst/>
          </a:prstGeom>
          <a:noFill/>
          <a:ln/>
        </p:spPr>
        <p:txBody>
          <a:bodyPr wrap="square" lIns="0" tIns="0" rIns="0" bIns="0" anchor="ctr"/>
          <a:lstStyle/>
          <a:p>
            <a:pPr marL="0" indent="0">
              <a:buNone/>
              <a:defRPr/>
            </a:pPr>
            <a:r>
              <a:rPr lang="en-US" sz="2800" b="1">
                <a:solidFill>
                  <a:srgbClr val="1f4e79"/>
                </a:solidFill>
                <a:latin typeface="Aptos"/>
                <a:ea typeface="Aptos"/>
                <a:cs typeface="Aptos"/>
              </a:rPr>
              <a:t>2. 시스템 흐름</a:t>
            </a:r>
            <a:endParaRPr lang="en-US" sz="2800"/>
          </a:p>
        </p:txBody>
      </p:sp>
      <p:sp>
        <p:nvSpPr>
          <p:cNvPr id="4" name="Shape 2"/>
          <p:cNvSpPr/>
          <p:nvPr/>
        </p:nvSpPr>
        <p:spPr>
          <a:xfrm>
            <a:off x="2212467" y="3477006"/>
            <a:ext cx="502920" cy="0"/>
          </a:xfrm>
          <a:prstGeom prst="line">
            <a:avLst/>
          </a:prstGeom>
          <a:noFill/>
          <a:ln w="12700">
            <a:solidFill>
              <a:srgbClr val="aac1da"/>
            </a:solidFill>
            <a:prstDash val="solid"/>
            <a:tailEnd type="triangle"/>
          </a:ln>
        </p:spPr>
        <p:txBody>
          <a:bodyPr wrap="square" anchor="ctr"/>
          <a:p>
            <a:pPr algn="ctr">
              <a:defRPr/>
            </a:pPr>
            <a:endParaRPr lang="ko-KR" altLang="en-US"/>
          </a:p>
        </p:txBody>
      </p:sp>
      <p:sp>
        <p:nvSpPr>
          <p:cNvPr id="5" name="Shape 3"/>
          <p:cNvSpPr/>
          <p:nvPr/>
        </p:nvSpPr>
        <p:spPr>
          <a:xfrm>
            <a:off x="4525899" y="3477006"/>
            <a:ext cx="502920" cy="0"/>
          </a:xfrm>
          <a:prstGeom prst="line">
            <a:avLst/>
          </a:prstGeom>
          <a:noFill/>
          <a:ln w="12700">
            <a:solidFill>
              <a:srgbClr val="aac1da"/>
            </a:solidFill>
            <a:prstDash val="solid"/>
            <a:tailEnd type="triangle"/>
          </a:ln>
        </p:spPr>
        <p:txBody>
          <a:bodyPr wrap="square" anchor="ctr"/>
          <a:p>
            <a:pPr algn="ctr">
              <a:defRPr/>
            </a:pPr>
            <a:endParaRPr lang="ko-KR" altLang="en-US"/>
          </a:p>
        </p:txBody>
      </p:sp>
      <p:sp>
        <p:nvSpPr>
          <p:cNvPr id="6" name="Shape 4"/>
          <p:cNvSpPr/>
          <p:nvPr/>
        </p:nvSpPr>
        <p:spPr>
          <a:xfrm>
            <a:off x="6839331" y="3477006"/>
            <a:ext cx="502920" cy="0"/>
          </a:xfrm>
          <a:prstGeom prst="line">
            <a:avLst/>
          </a:prstGeom>
          <a:noFill/>
          <a:ln w="12700">
            <a:solidFill>
              <a:srgbClr val="aac1da"/>
            </a:solidFill>
            <a:prstDash val="solid"/>
            <a:tailEnd type="triangle"/>
          </a:ln>
        </p:spPr>
        <p:txBody>
          <a:bodyPr wrap="square" anchor="ctr"/>
          <a:p>
            <a:pPr algn="ctr">
              <a:defRPr/>
            </a:pPr>
            <a:endParaRPr lang="ko-KR" altLang="en-US"/>
          </a:p>
        </p:txBody>
      </p:sp>
      <p:sp>
        <p:nvSpPr>
          <p:cNvPr id="7" name="Shape 5"/>
          <p:cNvSpPr/>
          <p:nvPr/>
        </p:nvSpPr>
        <p:spPr>
          <a:xfrm>
            <a:off x="9152763" y="3477006"/>
            <a:ext cx="502920" cy="0"/>
          </a:xfrm>
          <a:prstGeom prst="line">
            <a:avLst/>
          </a:prstGeom>
          <a:noFill/>
          <a:ln w="12700">
            <a:solidFill>
              <a:srgbClr val="aac1da"/>
            </a:solidFill>
            <a:prstDash val="solid"/>
            <a:tailEnd type="triangle"/>
          </a:ln>
        </p:spPr>
        <p:txBody>
          <a:bodyPr wrap="square" anchor="ctr"/>
          <a:p>
            <a:pPr algn="ctr">
              <a:defRPr/>
            </a:pPr>
            <a:endParaRPr lang="ko-KR" altLang="en-US"/>
          </a:p>
        </p:txBody>
      </p:sp>
      <p:sp>
        <p:nvSpPr>
          <p:cNvPr id="8" name="Shape 6"/>
          <p:cNvSpPr/>
          <p:nvPr/>
        </p:nvSpPr>
        <p:spPr>
          <a:xfrm>
            <a:off x="1160907" y="2160270"/>
            <a:ext cx="475488" cy="475488"/>
          </a:xfrm>
          <a:prstGeom prst="ellipse">
            <a:avLst/>
          </a:prstGeom>
          <a:solidFill>
            <a:srgbClr val="dcebfa"/>
          </a:solidFill>
          <a:ln w="12700">
            <a:solidFill>
              <a:srgbClr val="ffffff"/>
            </a:solidFill>
            <a:prstDash val="solid"/>
          </a:ln>
        </p:spPr>
        <p:txBody>
          <a:bodyPr anchor="ctr"/>
          <a:p>
            <a:pPr algn="ctr">
              <a:defRPr/>
            </a:pPr>
            <a:endParaRPr lang="ko-KR" altLang="en-US"/>
          </a:p>
        </p:txBody>
      </p:sp>
      <p:sp>
        <p:nvSpPr>
          <p:cNvPr id="9" name="Text 7"/>
          <p:cNvSpPr/>
          <p:nvPr/>
        </p:nvSpPr>
        <p:spPr>
          <a:xfrm>
            <a:off x="1334643" y="2306574"/>
            <a:ext cx="128016" cy="128016"/>
          </a:xfrm>
          <a:prstGeom prst="rect">
            <a:avLst/>
          </a:prstGeom>
          <a:noFill/>
          <a:ln/>
        </p:spPr>
        <p:txBody>
          <a:bodyPr wrap="square" lIns="0" tIns="0" rIns="0" bIns="0" anchor="ctr"/>
          <a:lstStyle/>
          <a:p>
            <a:pPr marL="0" indent="0" algn="ctr">
              <a:buNone/>
              <a:defRPr/>
            </a:pPr>
            <a:r>
              <a:rPr lang="en-US" sz="1200" b="1">
                <a:solidFill>
                  <a:srgbClr val="1f4e79"/>
                </a:solidFill>
              </a:rPr>
              <a:t>1</a:t>
            </a:r>
            <a:endParaRPr lang="en-US" sz="1200"/>
          </a:p>
        </p:txBody>
      </p:sp>
      <p:sp>
        <p:nvSpPr>
          <p:cNvPr id="10" name="Shape 8"/>
          <p:cNvSpPr/>
          <p:nvPr/>
        </p:nvSpPr>
        <p:spPr>
          <a:xfrm>
            <a:off x="584835" y="2782062"/>
            <a:ext cx="1627632" cy="1627632"/>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11" name="Text 9"/>
          <p:cNvSpPr/>
          <p:nvPr/>
        </p:nvSpPr>
        <p:spPr>
          <a:xfrm>
            <a:off x="712851" y="3056382"/>
            <a:ext cx="1371600" cy="228600"/>
          </a:xfrm>
          <a:prstGeom prst="rect">
            <a:avLst/>
          </a:prstGeom>
          <a:noFill/>
          <a:ln/>
        </p:spPr>
        <p:txBody>
          <a:bodyPr wrap="square" lIns="0" tIns="0" rIns="0" bIns="0" anchor="ctr"/>
          <a:lstStyle/>
          <a:p>
            <a:pPr marL="0" indent="0" algn="ctr">
              <a:buNone/>
              <a:defRPr/>
            </a:pPr>
            <a:r>
              <a:rPr lang="en-US" sz="1800" b="1">
                <a:solidFill>
                  <a:srgbClr val="1f4e79"/>
                </a:solidFill>
              </a:rPr>
              <a:t>매핑</a:t>
            </a:r>
            <a:endParaRPr lang="en-US" sz="1800"/>
          </a:p>
        </p:txBody>
      </p:sp>
      <p:sp>
        <p:nvSpPr>
          <p:cNvPr id="12" name="Text 10"/>
          <p:cNvSpPr/>
          <p:nvPr/>
        </p:nvSpPr>
        <p:spPr>
          <a:xfrm>
            <a:off x="694563" y="3440430"/>
            <a:ext cx="1408176" cy="731520"/>
          </a:xfrm>
          <a:prstGeom prst="rect">
            <a:avLst/>
          </a:prstGeom>
          <a:noFill/>
          <a:ln/>
        </p:spPr>
        <p:txBody>
          <a:bodyPr wrap="square" lIns="0" tIns="0" rIns="0" bIns="0" anchor="ctr"/>
          <a:lstStyle/>
          <a:p>
            <a:pPr marL="0" indent="0" algn="ctr">
              <a:buNone/>
              <a:defRPr/>
            </a:pPr>
            <a:r>
              <a:rPr lang="en-US" sz="1400">
                <a:solidFill>
                  <a:srgbClr val="1f2937"/>
                </a:solidFill>
              </a:rPr>
              <a:t>실내 환경 스캔</a:t>
            </a:r>
            <a:endParaRPr lang="en-US" sz="1400">
              <a:solidFill>
                <a:srgbClr val="1f2937"/>
              </a:solidFill>
            </a:endParaRPr>
          </a:p>
          <a:p>
            <a:pPr marL="0" indent="0" algn="ctr">
              <a:buNone/>
              <a:defRPr/>
            </a:pPr>
            <a:r>
              <a:rPr lang="en-US" sz="1400">
                <a:solidFill>
                  <a:srgbClr val="1f2937"/>
                </a:solidFill>
              </a:rPr>
              <a:t>지도(.yaml) 생성</a:t>
            </a:r>
            <a:endParaRPr lang="en-US" sz="1400"/>
          </a:p>
        </p:txBody>
      </p:sp>
      <p:sp>
        <p:nvSpPr>
          <p:cNvPr id="13" name="Shape 11"/>
          <p:cNvSpPr/>
          <p:nvPr/>
        </p:nvSpPr>
        <p:spPr>
          <a:xfrm>
            <a:off x="3474339" y="2160270"/>
            <a:ext cx="475488" cy="475488"/>
          </a:xfrm>
          <a:prstGeom prst="ellipse">
            <a:avLst/>
          </a:prstGeom>
          <a:solidFill>
            <a:srgbClr val="ede7fa"/>
          </a:solidFill>
          <a:ln w="12700">
            <a:solidFill>
              <a:srgbClr val="ffffff"/>
            </a:solidFill>
            <a:prstDash val="solid"/>
          </a:ln>
        </p:spPr>
        <p:txBody>
          <a:bodyPr anchor="ctr"/>
          <a:p>
            <a:pPr algn="ctr">
              <a:defRPr/>
            </a:pPr>
            <a:endParaRPr lang="ko-KR" altLang="en-US"/>
          </a:p>
        </p:txBody>
      </p:sp>
      <p:sp>
        <p:nvSpPr>
          <p:cNvPr id="14" name="Text 12"/>
          <p:cNvSpPr/>
          <p:nvPr/>
        </p:nvSpPr>
        <p:spPr>
          <a:xfrm>
            <a:off x="3648075" y="2306574"/>
            <a:ext cx="128016" cy="128016"/>
          </a:xfrm>
          <a:prstGeom prst="rect">
            <a:avLst/>
          </a:prstGeom>
          <a:noFill/>
          <a:ln/>
        </p:spPr>
        <p:txBody>
          <a:bodyPr wrap="square" lIns="0" tIns="0" rIns="0" bIns="0" anchor="ctr"/>
          <a:lstStyle/>
          <a:p>
            <a:pPr marL="0" indent="0" algn="ctr">
              <a:buNone/>
              <a:defRPr/>
            </a:pPr>
            <a:r>
              <a:rPr lang="en-US" sz="1200" b="1">
                <a:solidFill>
                  <a:srgbClr val="1f4e79"/>
                </a:solidFill>
              </a:rPr>
              <a:t>2</a:t>
            </a:r>
            <a:endParaRPr lang="en-US" sz="1200"/>
          </a:p>
        </p:txBody>
      </p:sp>
      <p:sp>
        <p:nvSpPr>
          <p:cNvPr id="15" name="Shape 13"/>
          <p:cNvSpPr/>
          <p:nvPr/>
        </p:nvSpPr>
        <p:spPr>
          <a:xfrm>
            <a:off x="2898267" y="2782062"/>
            <a:ext cx="1627632" cy="1627632"/>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16" name="Text 14"/>
          <p:cNvSpPr/>
          <p:nvPr/>
        </p:nvSpPr>
        <p:spPr>
          <a:xfrm>
            <a:off x="3026283" y="3056382"/>
            <a:ext cx="1371600" cy="228600"/>
          </a:xfrm>
          <a:prstGeom prst="rect">
            <a:avLst/>
          </a:prstGeom>
          <a:noFill/>
          <a:ln/>
        </p:spPr>
        <p:txBody>
          <a:bodyPr wrap="square" lIns="0" tIns="0" rIns="0" bIns="0" anchor="ctr"/>
          <a:lstStyle/>
          <a:p>
            <a:pPr marL="0" indent="0" algn="ctr">
              <a:buNone/>
              <a:defRPr/>
            </a:pPr>
            <a:r>
              <a:rPr lang="en-US" sz="1800" b="1">
                <a:solidFill>
                  <a:srgbClr val="1f4e79"/>
                </a:solidFill>
              </a:rPr>
              <a:t>위치 추정</a:t>
            </a:r>
            <a:endParaRPr lang="en-US" sz="1800"/>
          </a:p>
        </p:txBody>
      </p:sp>
      <p:sp>
        <p:nvSpPr>
          <p:cNvPr id="17" name="Text 15"/>
          <p:cNvSpPr/>
          <p:nvPr/>
        </p:nvSpPr>
        <p:spPr>
          <a:xfrm>
            <a:off x="3007995" y="3440430"/>
            <a:ext cx="1408176" cy="731520"/>
          </a:xfrm>
          <a:prstGeom prst="rect">
            <a:avLst/>
          </a:prstGeom>
          <a:noFill/>
          <a:ln/>
        </p:spPr>
        <p:txBody>
          <a:bodyPr wrap="square" lIns="0" tIns="0" rIns="0" bIns="0" anchor="ctr"/>
          <a:lstStyle/>
          <a:p>
            <a:pPr marL="0" indent="0" algn="ctr">
              <a:buNone/>
              <a:defRPr/>
            </a:pPr>
            <a:r>
              <a:rPr lang="en-US" sz="1400">
                <a:solidFill>
                  <a:srgbClr val="1f2937"/>
                </a:solidFill>
              </a:rPr>
              <a:t>LiDAR와 지도 비교</a:t>
            </a:r>
            <a:endParaRPr lang="en-US" sz="1400">
              <a:solidFill>
                <a:srgbClr val="1f2937"/>
              </a:solidFill>
            </a:endParaRPr>
          </a:p>
          <a:p>
            <a:pPr marL="0" indent="0" algn="ctr">
              <a:buNone/>
              <a:defRPr/>
            </a:pPr>
            <a:r>
              <a:rPr lang="en-US" sz="1400">
                <a:solidFill>
                  <a:srgbClr val="1f2937"/>
                </a:solidFill>
              </a:rPr>
              <a:t>현재 위치 추정</a:t>
            </a:r>
            <a:endParaRPr lang="en-US" sz="1400"/>
          </a:p>
        </p:txBody>
      </p:sp>
      <p:sp>
        <p:nvSpPr>
          <p:cNvPr id="18" name="Shape 16"/>
          <p:cNvSpPr/>
          <p:nvPr/>
        </p:nvSpPr>
        <p:spPr>
          <a:xfrm>
            <a:off x="5787771" y="2160270"/>
            <a:ext cx="475488" cy="475488"/>
          </a:xfrm>
          <a:prstGeom prst="ellipse">
            <a:avLst/>
          </a:prstGeom>
          <a:solidFill>
            <a:srgbClr val="fff1d6"/>
          </a:solidFill>
          <a:ln w="12700">
            <a:solidFill>
              <a:srgbClr val="ffffff"/>
            </a:solidFill>
            <a:prstDash val="solid"/>
          </a:ln>
        </p:spPr>
        <p:txBody>
          <a:bodyPr anchor="ctr"/>
          <a:p>
            <a:pPr algn="ctr">
              <a:defRPr/>
            </a:pPr>
            <a:endParaRPr lang="ko-KR" altLang="en-US"/>
          </a:p>
        </p:txBody>
      </p:sp>
      <p:sp>
        <p:nvSpPr>
          <p:cNvPr id="19" name="Text 17"/>
          <p:cNvSpPr/>
          <p:nvPr/>
        </p:nvSpPr>
        <p:spPr>
          <a:xfrm>
            <a:off x="5961507" y="2306574"/>
            <a:ext cx="128016" cy="128016"/>
          </a:xfrm>
          <a:prstGeom prst="rect">
            <a:avLst/>
          </a:prstGeom>
          <a:noFill/>
          <a:ln/>
        </p:spPr>
        <p:txBody>
          <a:bodyPr wrap="square" lIns="0" tIns="0" rIns="0" bIns="0" anchor="ctr"/>
          <a:lstStyle/>
          <a:p>
            <a:pPr marL="0" indent="0" algn="ctr">
              <a:buNone/>
              <a:defRPr/>
            </a:pPr>
            <a:r>
              <a:rPr lang="en-US" sz="1200" b="1">
                <a:solidFill>
                  <a:srgbClr val="1f4e79"/>
                </a:solidFill>
              </a:rPr>
              <a:t>3</a:t>
            </a:r>
            <a:endParaRPr lang="en-US" sz="1200"/>
          </a:p>
        </p:txBody>
      </p:sp>
      <p:sp>
        <p:nvSpPr>
          <p:cNvPr id="20" name="Shape 18"/>
          <p:cNvSpPr/>
          <p:nvPr/>
        </p:nvSpPr>
        <p:spPr>
          <a:xfrm>
            <a:off x="5211699" y="2782062"/>
            <a:ext cx="1627632" cy="1627632"/>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21" name="Text 19"/>
          <p:cNvSpPr/>
          <p:nvPr/>
        </p:nvSpPr>
        <p:spPr>
          <a:xfrm>
            <a:off x="5339715" y="3056382"/>
            <a:ext cx="1371600" cy="228600"/>
          </a:xfrm>
          <a:prstGeom prst="rect">
            <a:avLst/>
          </a:prstGeom>
          <a:noFill/>
          <a:ln/>
        </p:spPr>
        <p:txBody>
          <a:bodyPr wrap="square" lIns="0" tIns="0" rIns="0" bIns="0" anchor="ctr"/>
          <a:lstStyle/>
          <a:p>
            <a:pPr marL="0" indent="0" algn="ctr">
              <a:buNone/>
              <a:defRPr/>
            </a:pPr>
            <a:r>
              <a:rPr lang="en-US" sz="1800" b="1">
                <a:solidFill>
                  <a:srgbClr val="1f4e79"/>
                </a:solidFill>
              </a:rPr>
              <a:t>경로 계획</a:t>
            </a:r>
            <a:endParaRPr lang="en-US" sz="1800"/>
          </a:p>
        </p:txBody>
      </p:sp>
      <p:sp>
        <p:nvSpPr>
          <p:cNvPr id="22" name="Text 20"/>
          <p:cNvSpPr/>
          <p:nvPr/>
        </p:nvSpPr>
        <p:spPr>
          <a:xfrm>
            <a:off x="5321427" y="3440430"/>
            <a:ext cx="1408176" cy="731520"/>
          </a:xfrm>
          <a:prstGeom prst="rect">
            <a:avLst/>
          </a:prstGeom>
          <a:noFill/>
          <a:ln/>
        </p:spPr>
        <p:txBody>
          <a:bodyPr wrap="square" lIns="0" tIns="0" rIns="0" bIns="0" anchor="ctr"/>
          <a:lstStyle/>
          <a:p>
            <a:pPr marL="0" indent="0" algn="ctr">
              <a:buNone/>
              <a:defRPr/>
            </a:pPr>
            <a:r>
              <a:rPr lang="en-US" sz="1400">
                <a:solidFill>
                  <a:srgbClr val="1f2937"/>
                </a:solidFill>
              </a:rPr>
              <a:t>출발지에서 목적지까지</a:t>
            </a:r>
            <a:endParaRPr lang="en-US" sz="1400">
              <a:solidFill>
                <a:srgbClr val="1f2937"/>
              </a:solidFill>
            </a:endParaRPr>
          </a:p>
          <a:p>
            <a:pPr marL="0" indent="0" algn="ctr">
              <a:buNone/>
              <a:defRPr/>
            </a:pPr>
            <a:r>
              <a:rPr lang="en-US" sz="1400">
                <a:solidFill>
                  <a:srgbClr val="1f2937"/>
                </a:solidFill>
              </a:rPr>
              <a:t>최적 경로 산출</a:t>
            </a:r>
            <a:endParaRPr lang="en-US" sz="1400"/>
          </a:p>
        </p:txBody>
      </p:sp>
      <p:sp>
        <p:nvSpPr>
          <p:cNvPr id="23" name="Shape 21"/>
          <p:cNvSpPr/>
          <p:nvPr/>
        </p:nvSpPr>
        <p:spPr>
          <a:xfrm>
            <a:off x="8101203" y="2160270"/>
            <a:ext cx="475488" cy="475488"/>
          </a:xfrm>
          <a:prstGeom prst="ellipse">
            <a:avLst/>
          </a:prstGeom>
          <a:solidFill>
            <a:srgbClr val="ddf0e4"/>
          </a:solidFill>
          <a:ln w="12700">
            <a:solidFill>
              <a:srgbClr val="ffffff"/>
            </a:solidFill>
            <a:prstDash val="solid"/>
          </a:ln>
        </p:spPr>
        <p:txBody>
          <a:bodyPr anchor="ctr"/>
          <a:p>
            <a:pPr algn="ctr">
              <a:defRPr/>
            </a:pPr>
            <a:endParaRPr lang="ko-KR" altLang="en-US"/>
          </a:p>
        </p:txBody>
      </p:sp>
      <p:sp>
        <p:nvSpPr>
          <p:cNvPr id="24" name="Text 22"/>
          <p:cNvSpPr/>
          <p:nvPr/>
        </p:nvSpPr>
        <p:spPr>
          <a:xfrm>
            <a:off x="8274939" y="2306574"/>
            <a:ext cx="128016" cy="128016"/>
          </a:xfrm>
          <a:prstGeom prst="rect">
            <a:avLst/>
          </a:prstGeom>
          <a:noFill/>
          <a:ln/>
        </p:spPr>
        <p:txBody>
          <a:bodyPr wrap="square" lIns="0" tIns="0" rIns="0" bIns="0" anchor="ctr"/>
          <a:lstStyle/>
          <a:p>
            <a:pPr marL="0" indent="0" algn="ctr">
              <a:buNone/>
              <a:defRPr/>
            </a:pPr>
            <a:r>
              <a:rPr lang="en-US" sz="1200" b="1">
                <a:solidFill>
                  <a:srgbClr val="1f4e79"/>
                </a:solidFill>
              </a:rPr>
              <a:t>4</a:t>
            </a:r>
            <a:endParaRPr lang="en-US" sz="1200"/>
          </a:p>
        </p:txBody>
      </p:sp>
      <p:sp>
        <p:nvSpPr>
          <p:cNvPr id="35" name="Shape 28"/>
          <p:cNvSpPr/>
          <p:nvPr/>
        </p:nvSpPr>
        <p:spPr>
          <a:xfrm>
            <a:off x="7525131" y="2782062"/>
            <a:ext cx="1627632" cy="1627632"/>
          </a:xfrm>
          <a:prstGeom prst="roundRect">
            <a:avLst>
              <a:gd name="adj" fmla="val 16667"/>
            </a:avLst>
          </a:prstGeom>
          <a:solidFill>
            <a:srgbClr val="ffffff"/>
          </a:solidFill>
          <a:ln w="12700">
            <a:solidFill>
              <a:srgbClr val="d9e2f2"/>
            </a:solidFill>
            <a:prstDash val="solid"/>
          </a:ln>
        </p:spPr>
        <p:txBody>
          <a:bodyPr anchor="ctr"/>
          <a:lstStyle/>
          <a:p>
            <a:pPr algn="ctr">
              <a:defRPr/>
            </a:pPr>
            <a:endParaRPr lang="ko-KR" altLang="en-US"/>
          </a:p>
        </p:txBody>
      </p:sp>
      <p:sp>
        <p:nvSpPr>
          <p:cNvPr id="26" name="Text 24"/>
          <p:cNvSpPr/>
          <p:nvPr/>
        </p:nvSpPr>
        <p:spPr>
          <a:xfrm>
            <a:off x="7653147" y="3056382"/>
            <a:ext cx="1371600" cy="228600"/>
          </a:xfrm>
          <a:prstGeom prst="rect">
            <a:avLst/>
          </a:prstGeom>
          <a:noFill/>
          <a:ln/>
        </p:spPr>
        <p:txBody>
          <a:bodyPr wrap="square" lIns="0" tIns="0" rIns="0" bIns="0" anchor="ctr"/>
          <a:lstStyle/>
          <a:p>
            <a:pPr marL="0" indent="0" algn="ctr">
              <a:buNone/>
              <a:defRPr/>
            </a:pPr>
            <a:r>
              <a:rPr lang="en-US" sz="1800" b="1">
                <a:solidFill>
                  <a:srgbClr val="1f4e79"/>
                </a:solidFill>
              </a:rPr>
              <a:t>주행</a:t>
            </a:r>
            <a:endParaRPr lang="en-US" sz="1800"/>
          </a:p>
        </p:txBody>
      </p:sp>
      <p:sp>
        <p:nvSpPr>
          <p:cNvPr id="27" name="Text 25"/>
          <p:cNvSpPr/>
          <p:nvPr/>
        </p:nvSpPr>
        <p:spPr>
          <a:xfrm>
            <a:off x="7634859" y="3440430"/>
            <a:ext cx="1408176" cy="731520"/>
          </a:xfrm>
          <a:prstGeom prst="rect">
            <a:avLst/>
          </a:prstGeom>
          <a:noFill/>
          <a:ln/>
        </p:spPr>
        <p:txBody>
          <a:bodyPr wrap="square" lIns="0" tIns="0" rIns="0" bIns="0" anchor="ctr"/>
          <a:lstStyle/>
          <a:p>
            <a:pPr marL="0" indent="0" algn="ctr">
              <a:buNone/>
              <a:defRPr/>
            </a:pPr>
            <a:r>
              <a:rPr lang="en-US" sz="1400">
                <a:solidFill>
                  <a:srgbClr val="1f2937"/>
                </a:solidFill>
              </a:rPr>
              <a:t>실시간 LiDAR 반영</a:t>
            </a:r>
            <a:endParaRPr lang="en-US" sz="1400">
              <a:solidFill>
                <a:srgbClr val="1f2937"/>
              </a:solidFill>
            </a:endParaRPr>
          </a:p>
          <a:p>
            <a:pPr marL="0" indent="0" algn="ctr">
              <a:buNone/>
              <a:defRPr/>
            </a:pPr>
            <a:r>
              <a:rPr lang="en-US" sz="1400">
                <a:solidFill>
                  <a:srgbClr val="1f2937"/>
                </a:solidFill>
              </a:rPr>
              <a:t>장애물 회피</a:t>
            </a:r>
            <a:endParaRPr lang="en-US" sz="1400"/>
          </a:p>
        </p:txBody>
      </p:sp>
      <p:sp>
        <p:nvSpPr>
          <p:cNvPr id="28" name="Shape 26"/>
          <p:cNvSpPr/>
          <p:nvPr/>
        </p:nvSpPr>
        <p:spPr>
          <a:xfrm>
            <a:off x="10414635" y="2160270"/>
            <a:ext cx="475488" cy="475488"/>
          </a:xfrm>
          <a:prstGeom prst="ellipse">
            <a:avLst/>
          </a:prstGeom>
          <a:solidFill>
            <a:srgbClr val="fde7e7"/>
          </a:solidFill>
          <a:ln w="12700">
            <a:solidFill>
              <a:srgbClr val="ffffff"/>
            </a:solidFill>
            <a:prstDash val="solid"/>
          </a:ln>
        </p:spPr>
        <p:txBody>
          <a:bodyPr anchor="ctr"/>
          <a:p>
            <a:pPr algn="ctr">
              <a:defRPr/>
            </a:pPr>
            <a:endParaRPr lang="ko-KR" altLang="en-US"/>
          </a:p>
        </p:txBody>
      </p:sp>
      <p:sp>
        <p:nvSpPr>
          <p:cNvPr id="29" name="Text 27"/>
          <p:cNvSpPr/>
          <p:nvPr/>
        </p:nvSpPr>
        <p:spPr>
          <a:xfrm>
            <a:off x="10588371" y="2306574"/>
            <a:ext cx="128016" cy="128016"/>
          </a:xfrm>
          <a:prstGeom prst="rect">
            <a:avLst/>
          </a:prstGeom>
          <a:noFill/>
          <a:ln/>
        </p:spPr>
        <p:txBody>
          <a:bodyPr wrap="square" lIns="0" tIns="0" rIns="0" bIns="0" anchor="ctr"/>
          <a:lstStyle/>
          <a:p>
            <a:pPr marL="0" indent="0" algn="ctr">
              <a:buNone/>
              <a:defRPr/>
            </a:pPr>
            <a:r>
              <a:rPr lang="en-US" sz="1200" b="1">
                <a:solidFill>
                  <a:srgbClr val="1f4e79"/>
                </a:solidFill>
              </a:rPr>
              <a:t>5</a:t>
            </a:r>
            <a:endParaRPr lang="en-US" sz="1200"/>
          </a:p>
        </p:txBody>
      </p:sp>
      <p:sp>
        <p:nvSpPr>
          <p:cNvPr id="30" name="Shape 28"/>
          <p:cNvSpPr/>
          <p:nvPr/>
        </p:nvSpPr>
        <p:spPr>
          <a:xfrm>
            <a:off x="9838563" y="2782062"/>
            <a:ext cx="1627632" cy="1627632"/>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31" name="Text 29"/>
          <p:cNvSpPr/>
          <p:nvPr/>
        </p:nvSpPr>
        <p:spPr>
          <a:xfrm>
            <a:off x="9966579" y="3056382"/>
            <a:ext cx="1371600" cy="228600"/>
          </a:xfrm>
          <a:prstGeom prst="rect">
            <a:avLst/>
          </a:prstGeom>
          <a:noFill/>
          <a:ln/>
        </p:spPr>
        <p:txBody>
          <a:bodyPr wrap="square" lIns="0" tIns="0" rIns="0" bIns="0" anchor="ctr"/>
          <a:lstStyle/>
          <a:p>
            <a:pPr marL="0" indent="0" algn="ctr">
              <a:buNone/>
              <a:defRPr/>
            </a:pPr>
            <a:r>
              <a:rPr lang="en-US" sz="1800" b="1">
                <a:solidFill>
                  <a:srgbClr val="1f4e79"/>
                </a:solidFill>
              </a:rPr>
              <a:t>도착</a:t>
            </a:r>
            <a:endParaRPr lang="en-US" sz="1800"/>
          </a:p>
        </p:txBody>
      </p:sp>
      <p:sp>
        <p:nvSpPr>
          <p:cNvPr id="32" name="Text 30"/>
          <p:cNvSpPr/>
          <p:nvPr/>
        </p:nvSpPr>
        <p:spPr>
          <a:xfrm>
            <a:off x="9948291" y="3440430"/>
            <a:ext cx="1408176" cy="731520"/>
          </a:xfrm>
          <a:prstGeom prst="rect">
            <a:avLst/>
          </a:prstGeom>
          <a:noFill/>
          <a:ln/>
        </p:spPr>
        <p:txBody>
          <a:bodyPr wrap="square" lIns="0" tIns="0" rIns="0" bIns="0" anchor="ctr"/>
          <a:lstStyle/>
          <a:p>
            <a:pPr marL="0" indent="0" algn="ctr">
              <a:buNone/>
              <a:defRPr/>
            </a:pPr>
            <a:r>
              <a:rPr lang="en-US" sz="1400">
                <a:solidFill>
                  <a:srgbClr val="1f2937"/>
                </a:solidFill>
              </a:rPr>
              <a:t>정밀 도착 및 정지 후</a:t>
            </a:r>
            <a:endParaRPr lang="en-US" sz="1400">
              <a:solidFill>
                <a:srgbClr val="1f2937"/>
              </a:solidFill>
            </a:endParaRPr>
          </a:p>
          <a:p>
            <a:pPr marL="0" indent="0" algn="ctr">
              <a:buNone/>
              <a:defRPr/>
            </a:pPr>
            <a:r>
              <a:rPr lang="en-US" sz="1400">
                <a:solidFill>
                  <a:srgbClr val="1f2937"/>
                </a:solidFill>
              </a:rPr>
              <a:t>정밀객체인식</a:t>
            </a:r>
            <a:endParaRPr lang="en-US" sz="14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411480"/>
            <a:ext cx="8046720" cy="411480"/>
          </a:xfrm>
          <a:prstGeom prst="rect">
            <a:avLst/>
          </a:prstGeom>
          <a:noFill/>
          <a:ln/>
        </p:spPr>
        <p:txBody>
          <a:bodyPr wrap="square" lIns="0" tIns="0" rIns="0" bIns="0" anchor="ctr"/>
          <a:lstStyle/>
          <a:p>
            <a:pPr marL="0" indent="0">
              <a:buNone/>
              <a:defRPr/>
            </a:pPr>
            <a:r>
              <a:rPr lang="en-US" sz="2800" b="1">
                <a:solidFill>
                  <a:srgbClr val="1f4e79"/>
                </a:solidFill>
                <a:latin typeface="Aptos"/>
                <a:ea typeface="Aptos"/>
                <a:cs typeface="Aptos"/>
              </a:rPr>
              <a:t>3. 핵심 알고리즘 및 기술</a:t>
            </a:r>
            <a:endParaRPr lang="en-US" sz="2800"/>
          </a:p>
        </p:txBody>
      </p:sp>
      <p:sp>
        <p:nvSpPr>
          <p:cNvPr id="5" name="Text 3"/>
          <p:cNvSpPr/>
          <p:nvPr/>
        </p:nvSpPr>
        <p:spPr>
          <a:xfrm>
            <a:off x="822960" y="1673352"/>
            <a:ext cx="1188720" cy="256032"/>
          </a:xfrm>
          <a:prstGeom prst="rect">
            <a:avLst/>
          </a:prstGeom>
          <a:solidFill>
            <a:srgbClr val="eaf2fb"/>
          </a:solidFill>
          <a:ln>
            <a:solidFill>
              <a:srgbClr val="eaf2fb"/>
            </a:solidFill>
          </a:ln>
        </p:spPr>
        <p:txBody>
          <a:bodyPr wrap="square" lIns="254" tIns="254" rIns="254" bIns="254" anchor="ctr"/>
          <a:lstStyle/>
          <a:p>
            <a:pPr marL="0" indent="0" algn="ctr">
              <a:buNone/>
              <a:defRPr/>
            </a:pPr>
            <a:r>
              <a:rPr lang="en-US" sz="1100" b="1">
                <a:solidFill>
                  <a:srgbClr val="1f4e79"/>
                </a:solidFill>
              </a:rPr>
              <a:t>AMCL</a:t>
            </a:r>
            <a:endParaRPr lang="en-US" sz="1100"/>
          </a:p>
        </p:txBody>
      </p:sp>
      <p:sp>
        <p:nvSpPr>
          <p:cNvPr id="6" name="Text 4"/>
          <p:cNvSpPr/>
          <p:nvPr/>
        </p:nvSpPr>
        <p:spPr>
          <a:xfrm>
            <a:off x="822960" y="2020824"/>
            <a:ext cx="3328416" cy="228600"/>
          </a:xfrm>
          <a:prstGeom prst="rect">
            <a:avLst/>
          </a:prstGeom>
          <a:noFill/>
          <a:ln/>
        </p:spPr>
        <p:txBody>
          <a:bodyPr wrap="square" lIns="0" tIns="0" rIns="0" bIns="0" anchor="ctr"/>
          <a:lstStyle/>
          <a:p>
            <a:pPr marL="0" indent="0">
              <a:buNone/>
              <a:defRPr/>
            </a:pPr>
            <a:r>
              <a:rPr lang="en-US" sz="1400" i="1">
                <a:solidFill>
                  <a:srgbClr val="6b7280"/>
                </a:solidFill>
              </a:rPr>
              <a:t>Adaptive Monte Carlo Localization</a:t>
            </a:r>
            <a:endParaRPr lang="en-US" sz="1400"/>
          </a:p>
        </p:txBody>
      </p:sp>
      <p:sp>
        <p:nvSpPr>
          <p:cNvPr id="7" name="Text 5"/>
          <p:cNvSpPr/>
          <p:nvPr/>
        </p:nvSpPr>
        <p:spPr>
          <a:xfrm>
            <a:off x="822960" y="2359152"/>
            <a:ext cx="3383280" cy="822960"/>
          </a:xfrm>
          <a:prstGeom prst="rect">
            <a:avLst/>
          </a:prstGeom>
          <a:noFill/>
          <a:ln/>
        </p:spPr>
        <p:txBody>
          <a:bodyPr wrap="square" lIns="762" tIns="762" rIns="762" bIns="762" anchor="t"/>
          <a:lstStyle/>
          <a:p>
            <a:pPr marL="177800" indent="-177800">
              <a:buSzPct val="100000"/>
              <a:buChar char="•"/>
              <a:defRPr/>
            </a:pPr>
            <a:r>
              <a:rPr lang="en-US" sz="1500">
                <a:solidFill>
                  <a:srgbClr val="1f2937"/>
                </a:solidFill>
                <a:latin typeface="Aptos"/>
                <a:ea typeface="Aptos"/>
                <a:cs typeface="Aptos"/>
              </a:rPr>
              <a:t>LiDAR 데이터와 지도를 대조하여 현재 위치를 실시간 추정</a:t>
            </a:r>
            <a:endParaRPr lang="en-US" sz="1500">
              <a:solidFill>
                <a:srgbClr val="1f2937"/>
              </a:solidFill>
              <a:latin typeface="Aptos"/>
              <a:ea typeface="Aptos"/>
              <a:cs typeface="Aptos"/>
            </a:endParaRPr>
          </a:p>
          <a:p>
            <a:pPr marL="177800" indent="-177800">
              <a:buSzPct val="100000"/>
              <a:buChar char="•"/>
              <a:defRPr/>
            </a:pPr>
            <a:r>
              <a:rPr lang="en-US" sz="1500">
                <a:solidFill>
                  <a:srgbClr val="1f2937"/>
                </a:solidFill>
                <a:latin typeface="Aptos"/>
                <a:ea typeface="Aptos"/>
                <a:cs typeface="Aptos"/>
              </a:rPr>
              <a:t>도착 지점 오차를 줄여 팔레트 접근 정확도 향상</a:t>
            </a:r>
            <a:endParaRPr lang="en-US" sz="1500"/>
          </a:p>
        </p:txBody>
      </p:sp>
      <p:sp>
        <p:nvSpPr>
          <p:cNvPr id="9" name="Text 7"/>
          <p:cNvSpPr/>
          <p:nvPr/>
        </p:nvSpPr>
        <p:spPr>
          <a:xfrm>
            <a:off x="4645152" y="1673352"/>
            <a:ext cx="1188720" cy="256032"/>
          </a:xfrm>
          <a:prstGeom prst="rect">
            <a:avLst/>
          </a:prstGeom>
          <a:solidFill>
            <a:srgbClr val="edf7ee"/>
          </a:solidFill>
          <a:ln>
            <a:solidFill>
              <a:srgbClr val="edf7ee"/>
            </a:solidFill>
          </a:ln>
        </p:spPr>
        <p:txBody>
          <a:bodyPr wrap="square" lIns="254" tIns="254" rIns="254" bIns="254" anchor="ctr"/>
          <a:lstStyle/>
          <a:p>
            <a:pPr marL="0" indent="0" algn="ctr">
              <a:buNone/>
              <a:defRPr/>
            </a:pPr>
            <a:r>
              <a:rPr lang="en-US" sz="1100" b="1">
                <a:solidFill>
                  <a:srgbClr val="1f4e79"/>
                </a:solidFill>
              </a:rPr>
              <a:t>Nav2</a:t>
            </a:r>
            <a:endParaRPr lang="en-US" sz="1100"/>
          </a:p>
        </p:txBody>
      </p:sp>
      <p:sp>
        <p:nvSpPr>
          <p:cNvPr id="10" name="Text 8"/>
          <p:cNvSpPr/>
          <p:nvPr/>
        </p:nvSpPr>
        <p:spPr>
          <a:xfrm>
            <a:off x="4645152" y="2020824"/>
            <a:ext cx="3145536" cy="228600"/>
          </a:xfrm>
          <a:prstGeom prst="rect">
            <a:avLst/>
          </a:prstGeom>
          <a:noFill/>
          <a:ln/>
        </p:spPr>
        <p:txBody>
          <a:bodyPr wrap="square" lIns="0" tIns="0" rIns="0" bIns="0" anchor="ctr"/>
          <a:lstStyle/>
          <a:p>
            <a:pPr marL="0" indent="0">
              <a:buNone/>
              <a:defRPr/>
            </a:pPr>
            <a:r>
              <a:rPr lang="en-US" sz="1400" i="1">
                <a:solidFill>
                  <a:srgbClr val="6b7280"/>
                </a:solidFill>
              </a:rPr>
              <a:t>전역/지역 경로 계획</a:t>
            </a:r>
            <a:endParaRPr lang="en-US" sz="1400"/>
          </a:p>
        </p:txBody>
      </p:sp>
      <p:sp>
        <p:nvSpPr>
          <p:cNvPr id="11" name="Text 9"/>
          <p:cNvSpPr/>
          <p:nvPr/>
        </p:nvSpPr>
        <p:spPr>
          <a:xfrm>
            <a:off x="4645152" y="2359152"/>
            <a:ext cx="3200400" cy="822960"/>
          </a:xfrm>
          <a:prstGeom prst="rect">
            <a:avLst/>
          </a:prstGeom>
          <a:noFill/>
          <a:ln/>
        </p:spPr>
        <p:txBody>
          <a:bodyPr wrap="square" lIns="762" tIns="762" rIns="762" bIns="762" anchor="t"/>
          <a:lstStyle/>
          <a:p>
            <a:pPr marL="177800" indent="-177800">
              <a:buSzPct val="100000"/>
              <a:buChar char="•"/>
              <a:defRPr/>
            </a:pPr>
            <a:r>
              <a:rPr lang="en-US" sz="1500">
                <a:solidFill>
                  <a:srgbClr val="1f2937"/>
                </a:solidFill>
                <a:latin typeface="Aptos"/>
                <a:ea typeface="Aptos"/>
                <a:cs typeface="Aptos"/>
              </a:rPr>
              <a:t>전역 경로와 지역 경로를 함께 사용</a:t>
            </a:r>
            <a:endParaRPr lang="en-US" sz="1500">
              <a:solidFill>
                <a:srgbClr val="1f2937"/>
              </a:solidFill>
              <a:latin typeface="Aptos"/>
              <a:ea typeface="Aptos"/>
              <a:cs typeface="Aptos"/>
            </a:endParaRPr>
          </a:p>
          <a:p>
            <a:pPr marL="177800" indent="-177800">
              <a:buSzPct val="100000"/>
              <a:buChar char="•"/>
              <a:defRPr/>
            </a:pPr>
            <a:r>
              <a:rPr lang="en-US" sz="1500">
                <a:solidFill>
                  <a:srgbClr val="1f2937"/>
                </a:solidFill>
                <a:latin typeface="Aptos"/>
                <a:ea typeface="Aptos"/>
                <a:cs typeface="Aptos"/>
              </a:rPr>
              <a:t>실시간 LiDAR를 반영해 장애물을 회피하며 목적지로 이동</a:t>
            </a:r>
            <a:endParaRPr lang="en-US" sz="1500"/>
          </a:p>
        </p:txBody>
      </p:sp>
      <p:sp>
        <p:nvSpPr>
          <p:cNvPr id="13" name="Text 11"/>
          <p:cNvSpPr/>
          <p:nvPr/>
        </p:nvSpPr>
        <p:spPr>
          <a:xfrm>
            <a:off x="8302752" y="1673352"/>
            <a:ext cx="1188720" cy="256032"/>
          </a:xfrm>
          <a:prstGeom prst="rect">
            <a:avLst/>
          </a:prstGeom>
          <a:solidFill>
            <a:srgbClr val="fdf2e9"/>
          </a:solidFill>
          <a:ln>
            <a:solidFill>
              <a:srgbClr val="fdf2e9"/>
            </a:solidFill>
          </a:ln>
        </p:spPr>
        <p:txBody>
          <a:bodyPr wrap="square" lIns="254" tIns="254" rIns="254" bIns="254" anchor="ctr"/>
          <a:lstStyle/>
          <a:p>
            <a:pPr marL="0" indent="0" algn="ctr">
              <a:buNone/>
              <a:defRPr/>
            </a:pPr>
            <a:r>
              <a:rPr lang="en-US" sz="1100" b="1">
                <a:solidFill>
                  <a:srgbClr val="1f4e79"/>
                </a:solidFill>
              </a:rPr>
              <a:t>도착 정밀도</a:t>
            </a:r>
            <a:endParaRPr lang="en-US" sz="1100"/>
          </a:p>
        </p:txBody>
      </p:sp>
      <p:sp>
        <p:nvSpPr>
          <p:cNvPr id="14" name="Text 12"/>
          <p:cNvSpPr/>
          <p:nvPr/>
        </p:nvSpPr>
        <p:spPr>
          <a:xfrm>
            <a:off x="8302752" y="2020824"/>
            <a:ext cx="3054096" cy="228600"/>
          </a:xfrm>
          <a:prstGeom prst="rect">
            <a:avLst/>
          </a:prstGeom>
          <a:noFill/>
          <a:ln/>
        </p:spPr>
        <p:txBody>
          <a:bodyPr wrap="square" lIns="0" tIns="0" rIns="0" bIns="0" anchor="ctr"/>
          <a:lstStyle/>
          <a:p>
            <a:pPr marL="0" indent="0">
              <a:buNone/>
              <a:defRPr/>
            </a:pPr>
            <a:endParaRPr lang="en-US" sz="1400" i="1">
              <a:solidFill>
                <a:srgbClr val="6b7280"/>
              </a:solidFill>
            </a:endParaRPr>
          </a:p>
        </p:txBody>
      </p:sp>
      <p:sp>
        <p:nvSpPr>
          <p:cNvPr id="15" name="Text 13"/>
          <p:cNvSpPr/>
          <p:nvPr/>
        </p:nvSpPr>
        <p:spPr>
          <a:xfrm>
            <a:off x="8302752" y="2359152"/>
            <a:ext cx="3108960" cy="822960"/>
          </a:xfrm>
          <a:prstGeom prst="rect">
            <a:avLst/>
          </a:prstGeom>
          <a:noFill/>
          <a:ln/>
        </p:spPr>
        <p:txBody>
          <a:bodyPr wrap="square" lIns="762" tIns="762" rIns="762" bIns="762" anchor="t"/>
          <a:lstStyle/>
          <a:p>
            <a:pPr marL="177800" indent="-177800">
              <a:buSzPct val="100000"/>
              <a:buChar char="•"/>
              <a:defRPr/>
            </a:pPr>
            <a:r>
              <a:rPr lang="en-US" sz="1500">
                <a:solidFill>
                  <a:srgbClr val="1f2937"/>
                </a:solidFill>
                <a:latin typeface="Aptos"/>
                <a:ea typeface="Aptos"/>
                <a:cs typeface="Aptos"/>
              </a:rPr>
              <a:t>AMCL 기반 위치 추정과 지역 제어를 통해</a:t>
            </a:r>
            <a:endParaRPr lang="en-US" sz="1500">
              <a:solidFill>
                <a:srgbClr val="1f2937"/>
              </a:solidFill>
              <a:latin typeface="Aptos"/>
              <a:ea typeface="Aptos"/>
              <a:cs typeface="Aptos"/>
            </a:endParaRPr>
          </a:p>
          <a:p>
            <a:pPr marL="177800" indent="-177800">
              <a:buSzPct val="100000"/>
              <a:buChar char="•"/>
              <a:defRPr/>
            </a:pPr>
            <a:r>
              <a:rPr lang="en-US" sz="1500">
                <a:solidFill>
                  <a:srgbClr val="1f2937"/>
                </a:solidFill>
                <a:latin typeface="Aptos"/>
                <a:ea typeface="Aptos"/>
                <a:cs typeface="Aptos"/>
              </a:rPr>
              <a:t>정밀객체인식 시작이 가능한 위치에서 정지</a:t>
            </a:r>
            <a:endParaRPr lang="en-US" sz="15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411480"/>
            <a:ext cx="8046720" cy="411480"/>
          </a:xfrm>
          <a:prstGeom prst="rect">
            <a:avLst/>
          </a:prstGeom>
          <a:noFill/>
          <a:ln/>
        </p:spPr>
        <p:txBody>
          <a:bodyPr wrap="square" lIns="0" tIns="0" rIns="0" bIns="0" anchor="ctr"/>
          <a:lstStyle/>
          <a:p>
            <a:pPr marL="0" indent="0">
              <a:buNone/>
              <a:defRPr/>
            </a:pPr>
            <a:r>
              <a:rPr lang="en-US" sz="2800" b="1">
                <a:solidFill>
                  <a:srgbClr val="1f4e79"/>
                </a:solidFill>
                <a:latin typeface="Aptos"/>
                <a:ea typeface="Aptos"/>
                <a:cs typeface="Aptos"/>
              </a:rPr>
              <a:t>4. 주행 안정성</a:t>
            </a:r>
            <a:endParaRPr lang="en-US" sz="2800" b="1">
              <a:solidFill>
                <a:srgbClr val="1f4e79"/>
              </a:solidFill>
              <a:latin typeface="Aptos"/>
              <a:ea typeface="Aptos"/>
              <a:cs typeface="Aptos"/>
            </a:endParaRPr>
          </a:p>
        </p:txBody>
      </p:sp>
      <p:sp>
        <p:nvSpPr>
          <p:cNvPr id="4" name="Shape 2"/>
          <p:cNvSpPr/>
          <p:nvPr/>
        </p:nvSpPr>
        <p:spPr>
          <a:xfrm>
            <a:off x="694944" y="1508760"/>
            <a:ext cx="5303520" cy="3566160"/>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5" name="Text 3"/>
          <p:cNvSpPr/>
          <p:nvPr/>
        </p:nvSpPr>
        <p:spPr>
          <a:xfrm>
            <a:off x="896112" y="1719072"/>
            <a:ext cx="1645920" cy="256032"/>
          </a:xfrm>
          <a:prstGeom prst="rect">
            <a:avLst/>
          </a:prstGeom>
          <a:solidFill>
            <a:srgbClr val="eaf2fb"/>
          </a:solidFill>
          <a:ln>
            <a:solidFill>
              <a:srgbClr val="eaf2fb"/>
            </a:solidFill>
          </a:ln>
        </p:spPr>
        <p:txBody>
          <a:bodyPr wrap="square" lIns="254" tIns="254" rIns="254" bIns="254" anchor="ctr"/>
          <a:lstStyle/>
          <a:p>
            <a:pPr marL="0" indent="0" algn="ctr">
              <a:buNone/>
              <a:defRPr/>
            </a:pPr>
            <a:r>
              <a:rPr lang="en-US" sz="1100" b="1">
                <a:solidFill>
                  <a:srgbClr val="1f4e79"/>
                </a:solidFill>
              </a:rPr>
              <a:t>Recovery Behavior</a:t>
            </a:r>
            <a:endParaRPr lang="en-US" sz="1100"/>
          </a:p>
        </p:txBody>
      </p:sp>
      <p:sp>
        <p:nvSpPr>
          <p:cNvPr id="6" name="Text 4"/>
          <p:cNvSpPr/>
          <p:nvPr/>
        </p:nvSpPr>
        <p:spPr>
          <a:xfrm>
            <a:off x="932688" y="2148840"/>
            <a:ext cx="4754880" cy="1554480"/>
          </a:xfrm>
          <a:prstGeom prst="rect">
            <a:avLst/>
          </a:prstGeom>
          <a:noFill/>
          <a:ln/>
        </p:spPr>
        <p:txBody>
          <a:bodyPr wrap="square" lIns="762" tIns="762" rIns="762" bIns="762" anchor="t"/>
          <a:lstStyle/>
          <a:p>
            <a:pPr marL="177800" indent="-177800">
              <a:buSzPct val="100000"/>
              <a:buChar char="•"/>
              <a:defRPr/>
            </a:pPr>
            <a:r>
              <a:rPr lang="en-US" sz="1700">
                <a:solidFill>
                  <a:srgbClr val="1f2937"/>
                </a:solidFill>
                <a:latin typeface="Aptos"/>
                <a:ea typeface="Aptos"/>
                <a:cs typeface="Aptos"/>
              </a:rPr>
              <a:t>주행 중 경로가 막히거나 이동이 어려운 경우 복구 동작 수행</a:t>
            </a:r>
            <a:endParaRPr lang="en-US" sz="1700">
              <a:solidFill>
                <a:srgbClr val="1f2937"/>
              </a:solidFill>
              <a:latin typeface="Aptos"/>
              <a:ea typeface="Aptos"/>
              <a:cs typeface="Aptos"/>
            </a:endParaRPr>
          </a:p>
          <a:p>
            <a:pPr marL="177800" indent="-177800">
              <a:buSzPct val="100000"/>
              <a:buChar char="•"/>
              <a:defRPr/>
            </a:pPr>
            <a:r>
              <a:rPr lang="en-US" sz="1700">
                <a:solidFill>
                  <a:srgbClr val="1f2937"/>
                </a:solidFill>
                <a:latin typeface="Aptos"/>
                <a:ea typeface="Aptos"/>
                <a:cs typeface="Aptos"/>
              </a:rPr>
              <a:t>대표 동작: 제자리 회전, 후진, 재탐색</a:t>
            </a:r>
            <a:endParaRPr lang="en-US" sz="1700">
              <a:solidFill>
                <a:srgbClr val="1f2937"/>
              </a:solidFill>
              <a:latin typeface="Aptos"/>
              <a:ea typeface="Aptos"/>
              <a:cs typeface="Aptos"/>
            </a:endParaRPr>
          </a:p>
          <a:p>
            <a:pPr marL="177800" indent="-177800">
              <a:buSzPct val="100000"/>
              <a:buChar char="•"/>
              <a:defRPr/>
            </a:pPr>
            <a:r>
              <a:rPr lang="en-US" sz="1700">
                <a:solidFill>
                  <a:srgbClr val="1f2937"/>
                </a:solidFill>
                <a:latin typeface="Aptos"/>
                <a:ea typeface="Aptos"/>
                <a:cs typeface="Aptos"/>
              </a:rPr>
              <a:t>일시적인 장애물이나 오차로 인한 실패를 줄여 재주행 가능성 확보</a:t>
            </a:r>
            <a:endParaRPr lang="en-US" sz="1700"/>
          </a:p>
        </p:txBody>
      </p:sp>
      <p:sp>
        <p:nvSpPr>
          <p:cNvPr id="9" name="Shape 7"/>
          <p:cNvSpPr/>
          <p:nvPr/>
        </p:nvSpPr>
        <p:spPr>
          <a:xfrm>
            <a:off x="6217920" y="1508760"/>
            <a:ext cx="5257800" cy="3566160"/>
          </a:xfrm>
          <a:prstGeom prst="roundRect">
            <a:avLst>
              <a:gd name="adj" fmla="val 16667"/>
            </a:avLst>
          </a:prstGeom>
          <a:solidFill>
            <a:srgbClr val="ffffff"/>
          </a:solidFill>
          <a:ln w="12700">
            <a:solidFill>
              <a:srgbClr val="d9e2f2"/>
            </a:solidFill>
            <a:prstDash val="solid"/>
          </a:ln>
        </p:spPr>
        <p:txBody>
          <a:bodyPr anchor="ctr"/>
          <a:p>
            <a:pPr algn="ctr">
              <a:defRPr/>
            </a:pPr>
            <a:endParaRPr lang="ko-KR" altLang="en-US"/>
          </a:p>
        </p:txBody>
      </p:sp>
      <p:sp>
        <p:nvSpPr>
          <p:cNvPr id="10" name="Text 8"/>
          <p:cNvSpPr/>
          <p:nvPr/>
        </p:nvSpPr>
        <p:spPr>
          <a:xfrm>
            <a:off x="6419088" y="1719072"/>
            <a:ext cx="1554480" cy="256032"/>
          </a:xfrm>
          <a:prstGeom prst="rect">
            <a:avLst/>
          </a:prstGeom>
          <a:solidFill>
            <a:srgbClr val="fdeaea"/>
          </a:solidFill>
          <a:ln>
            <a:solidFill>
              <a:srgbClr val="fdeaea"/>
            </a:solidFill>
          </a:ln>
        </p:spPr>
        <p:txBody>
          <a:bodyPr wrap="square" lIns="254" tIns="254" rIns="254" bIns="254" anchor="ctr"/>
          <a:lstStyle/>
          <a:p>
            <a:pPr marL="0" indent="0" algn="ctr">
              <a:buNone/>
              <a:defRPr/>
            </a:pPr>
            <a:r>
              <a:rPr lang="en-US" sz="1100" b="1">
                <a:solidFill>
                  <a:srgbClr val="a33a36"/>
                </a:solidFill>
              </a:rPr>
              <a:t>Emergency Stop</a:t>
            </a:r>
            <a:endParaRPr lang="en-US" sz="1100"/>
          </a:p>
        </p:txBody>
      </p:sp>
      <p:sp>
        <p:nvSpPr>
          <p:cNvPr id="11" name="Text 9"/>
          <p:cNvSpPr/>
          <p:nvPr/>
        </p:nvSpPr>
        <p:spPr>
          <a:xfrm>
            <a:off x="6446520" y="2148840"/>
            <a:ext cx="4617720" cy="1600200"/>
          </a:xfrm>
          <a:prstGeom prst="rect">
            <a:avLst/>
          </a:prstGeom>
          <a:noFill/>
          <a:ln/>
        </p:spPr>
        <p:txBody>
          <a:bodyPr wrap="square" lIns="762" tIns="762" rIns="762" bIns="762" anchor="t"/>
          <a:lstStyle/>
          <a:p>
            <a:pPr marL="177800" indent="-177800">
              <a:buSzPct val="100000"/>
              <a:buChar char="•"/>
              <a:defRPr/>
            </a:pPr>
            <a:r>
              <a:rPr lang="en-US" sz="1700">
                <a:solidFill>
                  <a:srgbClr val="1f2937"/>
                </a:solidFill>
                <a:latin typeface="Aptos"/>
                <a:ea typeface="Aptos"/>
                <a:cs typeface="Aptos"/>
              </a:rPr>
              <a:t>2D LiDAR 상 장애물이 로봇 근처 안전 반경 안으로 진입하면 즉시 정지</a:t>
            </a:r>
            <a:endParaRPr lang="en-US" sz="1700">
              <a:solidFill>
                <a:srgbClr val="1f2937"/>
              </a:solidFill>
              <a:latin typeface="Aptos"/>
              <a:ea typeface="Aptos"/>
              <a:cs typeface="Aptos"/>
            </a:endParaRPr>
          </a:p>
          <a:p>
            <a:pPr marL="177800" indent="-177800">
              <a:buSzPct val="100000"/>
              <a:buChar char="•"/>
              <a:defRPr/>
            </a:pPr>
            <a:r>
              <a:rPr lang="en-US" sz="1700">
                <a:solidFill>
                  <a:srgbClr val="1f2937"/>
                </a:solidFill>
                <a:latin typeface="Aptos"/>
                <a:ea typeface="Aptos"/>
                <a:cs typeface="Aptos"/>
              </a:rPr>
              <a:t>충돌 위험이 큰 상황에서 가장 우선적으로 적용되는 안전 기능</a:t>
            </a:r>
            <a:endParaRPr lang="en-US" sz="1700">
              <a:solidFill>
                <a:srgbClr val="1f2937"/>
              </a:solidFill>
              <a:latin typeface="Aptos"/>
              <a:ea typeface="Aptos"/>
              <a:cs typeface="Aptos"/>
            </a:endParaRPr>
          </a:p>
          <a:p>
            <a:pPr marL="177800" indent="-177800">
              <a:buSzPct val="100000"/>
              <a:buChar char="•"/>
              <a:defRPr/>
            </a:pPr>
            <a:r>
              <a:rPr lang="en-US" sz="1700">
                <a:solidFill>
                  <a:srgbClr val="1f2937"/>
                </a:solidFill>
                <a:latin typeface="Aptos"/>
                <a:ea typeface="Aptos"/>
                <a:cs typeface="Aptos"/>
              </a:rPr>
              <a:t>정지 후 주변 상황을 다시 판단하여 복구 또는 재계획 수행</a:t>
            </a:r>
            <a:endParaRPr lang="en-US" sz="17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OpenAI</ep:Company>
  <ep:Words>304</ep:Words>
  <ep:PresentationFormat>On-screen Show (16:9)</ep:PresentationFormat>
  <ep:Paragraphs>77</ep:Paragraphs>
  <ep:Slides>4</ep:Slides>
  <ep:Notes>12</ep:Notes>
  <ep:TotalTime>0</ep:TotalTime>
  <ep:HiddenSlides>0</ep:HiddenSlides>
  <ep:MMClips>0</ep:MMClips>
  <ep:HeadingPairs>
    <vt:vector size="4" baseType="variant">
      <vt:variant>
        <vt:lpstr>테마</vt:lpstr>
      </vt:variant>
      <vt:variant>
        <vt:i4>1</vt:i4>
      </vt:variant>
      <vt:variant>
        <vt:lpstr>슬라이드 제목</vt:lpstr>
      </vt:variant>
      <vt:variant>
        <vt:i4>4</vt:i4>
      </vt:variant>
    </vt:vector>
  </ep:HeadingPairs>
  <ep:TitlesOfParts>
    <vt:vector size="5" baseType="lpstr">
      <vt:lpstr>Office Theme</vt:lpstr>
      <vt:lpstr>슬라이드 1</vt:lpstr>
      <vt:lpstr>슬라이드 2</vt:lpstr>
      <vt:lpstr>슬라이드 3</vt:lpstr>
      <vt:lpstr>슬라이드 4</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2026-04-07T16:56:28.000</dcterms:created>
  <dc:creator>OpenAI</dc:creator>
  <cp:lastModifiedBy>jiwon</cp:lastModifiedBy>
  <dcterms:modified xsi:type="dcterms:W3CDTF">2026-04-07T17:09:57.603</dcterms:modified>
  <cp:revision>7</cp:revision>
  <dc:subject>TurtleBot3의 2D LiDAR 기반 자율주행</dc:subject>
  <dc:title>TurtleBot3의 2D LiDAR 기반 자율주행</dc:title>
  <cp:version>1000.0000.01</cp:version>
</cp:coreProperties>
</file>